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FFFFFF"/>
                </a:solidFill>
                <a:latin typeface="Calibri"/>
              </a:rPr>
              <a:t>Reparto del costo por prestación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Reparto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FB0A5"/>
              </a:solidFill>
              <a:effectLst/>
            </c:spPr>
          </c:dPt>
          <c:dPt>
            <c:idx val="1"/>
            <c:bubble3D val="0"/>
            <c:spPr>
              <a:solidFill>
                <a:srgbClr val="F0A20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500" b="1" i="0" u="none" strike="noStrike">
                      <a:solidFill>
                        <a:srgbClr val="0F2A3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500" b="1" i="0" u="none" strike="noStrike">
                      <a:solidFill>
                        <a:srgbClr val="0F2A31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Bonifica el Centro</c:v>
                </c:pt>
                <c:pt idx="1">
                  <c:v>Financia el Municipio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40</c:v>
                </c:pt>
                <c:pt idx="1">
                  <c:v>60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CFE3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3291840"/>
            <a:ext cx="3840480" cy="3840480"/>
          </a:xfrm>
          <a:prstGeom prst="ellipse">
            <a:avLst/>
          </a:prstGeom>
          <a:solidFill>
            <a:srgbClr val="0A6E7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1051560" cy="105156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6" y="105064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SALUD VISUAL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260604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Vecinos que vuelven a ver.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Municipios que previenen la ceguera.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45262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convenio de precios preferenciales entre el municipio y un centro oftalmológico para operar cataratas y prevenir la ceguera evitable en personas sin cobertura.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5715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de Córdoba · Modelo adaptable a cualquier municipio o comuna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ceguera por catarata es evitable — pero muchos vecinos no pueden costear la cirugía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1.ª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92024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catarata no operada es la principal causa de ceguera reversible en adultos mayores.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9768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7066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566928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ESPERA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1772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sin obra social que quedan fuera del sistema y engrosan las listas de espera públicas.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804672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1F6F6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66760" y="246888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70662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418320" y="23957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</a:t>
            </a:r>
            <a:endParaRPr lang="en-US" sz="3800" dirty="0"/>
          </a:p>
        </p:txBody>
      </p:sp>
      <p:sp>
        <p:nvSpPr>
          <p:cNvPr id="20" name="Text 15"/>
          <p:cNvSpPr/>
          <p:nvPr/>
        </p:nvSpPr>
        <p:spPr>
          <a:xfrm>
            <a:off x="9418320" y="31272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PRIVADO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66760" y="365760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cirugía privada es inaccesible para la población de bajos recursos.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personas que pierden autonomía y calidad de vida por una cirugía de bajo costo relativo y alto impacto.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572000" cy="457200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 preferencial: el Centro incluye el descuento, el Municipio paga el valor final, el vecino se opera gratis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0A6E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83080" y="2606040"/>
            <a:ext cx="1005840" cy="10058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2867558"/>
            <a:ext cx="482803" cy="482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Descuento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4864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aplica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el descuento del Programa en el precio de cada práctica.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F0A20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532120" y="2606040"/>
            <a:ext cx="1005840" cy="100584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2867558"/>
            <a:ext cx="482803" cy="48280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 final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429768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financia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7200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 el valor final de las prestaciones realizadas a sus vecinos.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2286000"/>
            <a:ext cx="3474720" cy="3200400"/>
          </a:xfrm>
          <a:prstGeom prst="roundRect">
            <a:avLst>
              <a:gd name="adj" fmla="val 3429"/>
            </a:avLst>
          </a:prstGeom>
          <a:solidFill>
            <a:srgbClr val="0A3A44"/>
          </a:solidFill>
          <a:ln w="12700">
            <a:solidFill>
              <a:srgbClr val="4FB0A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281160" y="2606040"/>
            <a:ext cx="1005840" cy="100584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2867558"/>
            <a:ext cx="482803" cy="482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46720" y="36118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8046720" y="4297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vecino recibe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321040" y="46634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la cirugía sin costo (o con un copago mínimo).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valores son precios finales, con el descuento del Programa ya incluido. Lo que importa jurídicamente es el diseño transparente y auditable.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 jurídico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legal: el municipio tiene competencia en salud y puede pagar prestaciones a sus vecinos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514600"/>
            <a:ext cx="960120" cy="96012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" y="276423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500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Derecho a la salud operativo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965960" y="28072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Nacional (arts. 42 y 75 incs. 22 y 23) y CSJN, «Campodónico»: el Estado, en todos sus niveles, debe garantizar la salud.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214884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2514600"/>
            <a:ext cx="960120" cy="96012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151" y="276423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3500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y competencia municipal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7589520" y="280720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de Córdoba: autonomía municipal (art. 180) y competencia en salud, discapacidad y asistencia social (art. 186, inc. 7).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389120"/>
            <a:ext cx="960120" cy="96012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591" y="463875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224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convenir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965960" y="468172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Orgánica Municipal N.° 8102 y art. 190 Const. Cba.: el municipio puede celebrar convenios y comprar prestaciones de salud.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72200" y="4023360"/>
            <a:ext cx="539496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389120"/>
            <a:ext cx="960120" cy="96012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51" y="463875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9520" y="422452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discapacidad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7589520" y="4681728"/>
            <a:ext cx="3794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Leyes 22.431 y 24.901 y Convención de Discapacidad: prevenir la ceguera evitable es una acción positiva a favor de grupos vulnerables.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clave: gasto con fin público sanitario, pago contra prestación documentada — nunca una liberalidad al prestador.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beneficio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ganan: el municipio, los vecinos y el sistema sanitario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28325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municipio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salud de alto impacto y bajo costo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controlado por cupo y por prestación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transparente y auditable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vecino que vuelve a ver agradece y recomienda la gestión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0574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28325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los vecinos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6344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gratuita o de copago mínimo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Recuperan visión y autonomía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cercana, sin viajar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Igualdad de acceso a la salud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783080"/>
            <a:ext cx="3474720" cy="43434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057400"/>
            <a:ext cx="868680" cy="86868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28325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103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sistema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12480" y="306324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Descomprime listas de espera públicas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costos de aparatología e infraestructura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capacidad instalada privada</a:t>
            </a:r>
            <a:endParaRPr lang="en-US" sz="1300" dirty="0"/>
          </a:p>
          <a:p>
            <a:pPr marL="177800" indent="-1778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discapacidad visible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circuito simple, reglado y trazable — el municipio dirige y controla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736" y="27523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67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evalúa y declara elegible al vecino (residencia, sin cobertura, vulnerabilidad).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77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2788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12" name="Shape 9"/>
          <p:cNvSpPr/>
          <p:nvPr/>
        </p:nvSpPr>
        <p:spPr>
          <a:xfrm>
            <a:off x="3364992" y="251460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736" y="2752344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34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2788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953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la orden de prestación y deriva al Centro dentro del cupo mensual.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663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5074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650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752344"/>
            <a:ext cx="438912" cy="4389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0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5074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39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Centro realiza la práctica con calidad y seguimiento postoperatorio.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949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360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26" name="Shape 21"/>
          <p:cNvSpPr/>
          <p:nvPr/>
        </p:nvSpPr>
        <p:spPr>
          <a:xfrm>
            <a:off x="7936992" y="251460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2752344"/>
            <a:ext cx="438912" cy="4389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06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7360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7525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audita la práctica y verifica documentación y resultados.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923544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26"/>
          <p:cNvSpPr/>
          <p:nvPr/>
        </p:nvSpPr>
        <p:spPr>
          <a:xfrm>
            <a:off x="9646920" y="2286000"/>
            <a:ext cx="2057400" cy="3108960"/>
          </a:xfrm>
          <a:prstGeom prst="roundRect">
            <a:avLst>
              <a:gd name="adj" fmla="val 4444"/>
            </a:avLst>
          </a:prstGeom>
          <a:solidFill>
            <a:srgbClr val="F1F6F6"/>
          </a:solidFill>
          <a:ln/>
        </p:spPr>
      </p:sp>
      <p:sp>
        <p:nvSpPr>
          <p:cNvPr id="33" name="Shape 27"/>
          <p:cNvSpPr/>
          <p:nvPr/>
        </p:nvSpPr>
        <p:spPr>
          <a:xfrm>
            <a:off x="10222992" y="251460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2752344"/>
            <a:ext cx="438912" cy="43891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692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6" name="Text 29"/>
          <p:cNvSpPr/>
          <p:nvPr/>
        </p:nvSpPr>
        <p:spPr>
          <a:xfrm>
            <a:off x="9646920" y="3566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450" dirty="0"/>
          </a:p>
        </p:txBody>
      </p:sp>
      <p:sp>
        <p:nvSpPr>
          <p:cNvPr id="37" name="Text 30"/>
          <p:cNvSpPr/>
          <p:nvPr/>
        </p:nvSpPr>
        <p:spPr>
          <a:xfrm>
            <a:off x="9811512" y="3931920"/>
            <a:ext cx="1737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paga el valor final contra factura, al precio del Programa (descuento incluido).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municipio puede derivar, autorizar, auditar, fijar cupos, priorizar, exigir informes y resultados, y rescindir. Todo ello refuerza la validez del programa.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económico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municipio paga bastante menos que el valor particular de mercado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 de catarata — por ojo, todo incluido (con lente monofocal)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particular de mercado (ref.)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$ 1.200.000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44368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44368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Programa (por ojo)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931920" y="2944368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FB0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$ 850.000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02736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para el municipio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931920" y="3602736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29%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261104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0A3A44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6110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cargo del vecino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931920" y="4261104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$ 0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07492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final con lente monofocal incluida, ambos ojos, con el descuento del Programa ya aplicado. Valor particular de mercado de referencia: cirugía con lente monofocal, todo incluido (fuentes 2025-2026; conviene respaldarlo con un presupuesto local). El vecino que recupera la vista agradece y recomienda el programa: rédito social y político para la gestión.</a:t>
            </a:r>
            <a:endParaRPr lang="en-US" sz="12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309360" y="192024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del riesgo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Diseñado para pasar el control del Tribunal de Cuentas sin observaciones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2460650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Ordenanza y partida previas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2296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se crea por ordenanza, con crédito presupuestario imputado antes del gasto.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082" y="2460650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068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referencia fundado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Nomenclador uniforme (valores APROSS/PAMI o de mercado), no fijado caso por caso.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2585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122" y="2460650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89720" y="22219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por paciente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9535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Elegibilidad, autorización, consentimiento, práctica, factura al precio del Programa e informe médico.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" y="4518050"/>
            <a:ext cx="373075" cy="37307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transparente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abierto de adhesión o contratación conforme el régimen: neutraliza la competencia desleal.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9768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25" name="Shape 19"/>
          <p:cNvSpPr/>
          <p:nvPr/>
        </p:nvSpPr>
        <p:spPr>
          <a:xfrm>
            <a:off x="457200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4082" y="4518050"/>
            <a:ext cx="373075" cy="37307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4068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contra prestación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anticipos: se paga la práctica efectivamente realizada y auditada.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046720" y="40233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1F6F6"/>
          </a:solidFill>
          <a:ln/>
        </p:spPr>
      </p:sp>
      <p:sp>
        <p:nvSpPr>
          <p:cNvPr id="30" name="Shape 23"/>
          <p:cNvSpPr/>
          <p:nvPr/>
        </p:nvSpPr>
        <p:spPr>
          <a:xfrm>
            <a:off x="8321040" y="4315968"/>
            <a:ext cx="777240" cy="7772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122" y="4518050"/>
            <a:ext cx="373075" cy="37307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189720" y="4279392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superposición de cobertura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excluye a quienes tengan obra social vigente (PAMI/APROSS): evita conflictos.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 del caso Necochea: se rechazó un convenio opaco y con contraprestación en especie. Aquí: ordenanza, datos y reglas claras.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éxito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que demuestran el impacto y respaldan la continuidad del programa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69473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87452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Cirugías realizadas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17720" y="246888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69473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562356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lista de espera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66760" y="246888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69473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72600" y="22860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30d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9372600" y="301752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turno a cirugía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68680" y="45720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537" y="4797857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&gt;95%</a:t>
            </a:r>
            <a:endParaRPr lang="en-US" sz="3000" dirty="0"/>
          </a:p>
        </p:txBody>
      </p:sp>
      <p:sp>
        <p:nvSpPr>
          <p:cNvPr id="23" name="Text 17"/>
          <p:cNvSpPr/>
          <p:nvPr/>
        </p:nvSpPr>
        <p:spPr>
          <a:xfrm>
            <a:off x="187452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Éxito quirúrgico / sin complicaciones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29768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17720" y="4572000"/>
            <a:ext cx="868680" cy="86868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577" y="4797857"/>
            <a:ext cx="416966" cy="41696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2356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</a:t>
            </a:r>
            <a:endParaRPr lang="en-US" sz="3000" dirty="0"/>
          </a:p>
        </p:txBody>
      </p:sp>
      <p:sp>
        <p:nvSpPr>
          <p:cNvPr id="28" name="Text 21"/>
          <p:cNvSpPr/>
          <p:nvPr/>
        </p:nvSpPr>
        <p:spPr>
          <a:xfrm>
            <a:off x="562356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de agudeza visual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4069080"/>
            <a:ext cx="347472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9FB6B8">
                <a:alpha val="3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66760" y="4572000"/>
            <a:ext cx="868680" cy="8686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617" y="4797857"/>
            <a:ext cx="416966" cy="41696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372600" y="438912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★</a:t>
            </a:r>
            <a:endParaRPr lang="en-US" sz="3000" dirty="0"/>
          </a:p>
        </p:txBody>
      </p:sp>
      <p:sp>
        <p:nvSpPr>
          <p:cNvPr id="33" name="Text 25"/>
          <p:cNvSpPr/>
          <p:nvPr/>
        </p:nvSpPr>
        <p:spPr>
          <a:xfrm>
            <a:off x="9372600" y="512064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 del paciente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Reportados en un tablero periódico al Concejo Deliberante y al Tribunal de Cuentas — transparencia activa.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acuerdo al primer operado en pocas semanas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97280" y="3063240"/>
            <a:ext cx="9966960" cy="0"/>
          </a:xfrm>
          <a:prstGeom prst="line">
            <a:avLst/>
          </a:prstGeom>
          <a:noFill/>
          <a:ln w="25400">
            <a:solidFill>
              <a:srgbClr val="4FB0A5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71600" y="260604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9344" y="284378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1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y ordenanza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Presentación, convenio marco y sanción de la ordenanza habilitante.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60520" y="260604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284378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2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333756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15" name="Text 11"/>
          <p:cNvSpPr/>
          <p:nvPr/>
        </p:nvSpPr>
        <p:spPr>
          <a:xfrm>
            <a:off x="347472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a punto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52044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Nomenclador, cupos, circuito de admisión y difusión a los vecinos.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949440" y="2606040"/>
            <a:ext cx="914400" cy="91440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184" y="284378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648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3–4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612648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1" name="Text 16"/>
          <p:cNvSpPr/>
          <p:nvPr/>
        </p:nvSpPr>
        <p:spPr>
          <a:xfrm>
            <a:off x="626364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cirugías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30936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Derivación, operaciones y seguimiento; auditoría y primeros pagos.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9738360" y="2606040"/>
            <a:ext cx="914400" cy="91440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104" y="2843784"/>
            <a:ext cx="438912" cy="4389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A20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 5–6</a:t>
            </a:r>
            <a:endParaRPr lang="en-US" sz="1700" dirty="0"/>
          </a:p>
        </p:txBody>
      </p:sp>
      <p:sp>
        <p:nvSpPr>
          <p:cNvPr id="26" name="Shape 20"/>
          <p:cNvSpPr/>
          <p:nvPr/>
        </p:nvSpPr>
        <p:spPr>
          <a:xfrm>
            <a:off x="8915400" y="4069080"/>
            <a:ext cx="2560320" cy="1691640"/>
          </a:xfrm>
          <a:prstGeom prst="roundRect">
            <a:avLst>
              <a:gd name="adj" fmla="val 5405"/>
            </a:avLst>
          </a:prstGeom>
          <a:solidFill>
            <a:srgbClr val="F1F6F6"/>
          </a:solidFill>
          <a:ln/>
        </p:spPr>
      </p:sp>
      <p:sp>
        <p:nvSpPr>
          <p:cNvPr id="27" name="Text 21"/>
          <p:cNvSpPr/>
          <p:nvPr/>
        </p:nvSpPr>
        <p:spPr>
          <a:xfrm>
            <a:off x="905256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098280" y="4754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Indicadores, informe de impacto y decisión de renovación/ampliación.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Empezar chico, probar el modelo, y escalar a toda la provincia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83080" y="2286000"/>
            <a:ext cx="1005840" cy="1005840"/>
          </a:xfrm>
          <a:prstGeom prst="ellipse">
            <a:avLst/>
          </a:prstGeom>
          <a:solidFill>
            <a:srgbClr val="0A6E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598" y="254751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Programa piloto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6868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Municipio o comuna pequeño (Ley 8102): trámite ágil, cupo acotado y 6 meses de prueba con métricas.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286000"/>
            <a:ext cx="1005840" cy="100584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3638" y="254751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Expansión provincial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1772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en municipios con Carta Orgánica; mismo modelo (ordenanza + convenio + anexos), ajustado a cada normativa local.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46720" y="196596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6B8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81160" y="2286000"/>
            <a:ext cx="1005840" cy="1005840"/>
          </a:xfrm>
          <a:prstGeom prst="ellipse">
            <a:avLst/>
          </a:prstGeom>
          <a:solidFill>
            <a:srgbClr val="4FB0A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678" y="2547518"/>
            <a:ext cx="482803" cy="4828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3429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3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Escala nacional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66760" y="3977640"/>
            <a:ext cx="2834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reutilizable en otras provincias, adaptando la base normativa y el nomenclador de cada jurisdicción.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457200" y="6446520"/>
            <a:ext cx="10424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 ·  Propuesta institucional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C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217920" cy="6217920"/>
          </a:xfrm>
          <a:prstGeom prst="ellipse">
            <a:avLst/>
          </a:prstGeom>
          <a:solidFill>
            <a:srgbClr val="0A3A44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474720"/>
            <a:ext cx="3657600" cy="3657600"/>
          </a:xfrm>
          <a:prstGeom prst="ellipse">
            <a:avLst/>
          </a:prstGeom>
          <a:solidFill>
            <a:srgbClr val="0A6E7C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68680"/>
            <a:ext cx="1097280" cy="1097280"/>
          </a:xfrm>
          <a:prstGeom prst="ellipse">
            <a:avLst/>
          </a:prstGeom>
          <a:solidFill>
            <a:srgbClr val="F0A20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253" y="1153973"/>
            <a:ext cx="526694" cy="5266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402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4FB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Propongámoslo juntos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04672" y="2697480"/>
            <a:ext cx="10241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programa que devuelve visión a los vecinos</a:t>
            </a:r>
            <a:endParaRPr lang="en-US" sz="33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prestigio a la gestión municipal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822960" y="443484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Llevamos el paquete completo: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técnica jurídica · modelo de convenio · proyecto de ordenanza · esta presentación.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inicio: programa piloto de 6 meses, cupo acotado y evaluación por métricas de impacto.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Municipal de Salud Visual y Prevención de Ceguera Evitable · Provincia de Córdoba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2026-07-22T16:13:10Z</dcterms:created>
  <dcterms:modified xsi:type="dcterms:W3CDTF">2026-07-22T16:13:10Z</dcterms:modified>
</cp:coreProperties>
</file>