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FFFFFF"/>
                </a:solidFill>
                <a:latin typeface="Calibri"/>
              </a:rPr>
              <a:t>Reparto del costo por prestación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Reparto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FB0A5"/>
              </a:solidFill>
              <a:effectLst/>
            </c:spPr>
          </c:dPt>
          <c:dPt>
            <c:idx val="1"/>
            <c:bubble3D val="0"/>
            <c:spPr>
              <a:solidFill>
                <a:srgbClr val="F0A20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500" b="1" i="0" u="none" strike="noStrike">
                      <a:solidFill>
                        <a:srgbClr val="0F2A3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500" b="1" i="0" u="none" strike="noStrike">
                      <a:solidFill>
                        <a:srgbClr val="0F2A3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Bonifica el Centro</c:v>
                </c:pt>
                <c:pt idx="1">
                  <c:v>Financia el Municipio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40</c:v>
                </c:pt>
                <c:pt idx="1">
                  <c:v>60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CFE3E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943600" cy="5943600"/>
          </a:xfrm>
          <a:prstGeom prst="ellipse">
            <a:avLst/>
          </a:prstGeom>
          <a:solidFill>
            <a:srgbClr val="0A3A44"/>
          </a:solidFill>
          <a:ln/>
        </p:spPr>
      </p:sp>
      <p:sp>
        <p:nvSpPr>
          <p:cNvPr id="3" name="Shape 1"/>
          <p:cNvSpPr/>
          <p:nvPr/>
        </p:nvSpPr>
        <p:spPr>
          <a:xfrm>
            <a:off x="10149840" y="3291840"/>
            <a:ext cx="3840480" cy="3840480"/>
          </a:xfrm>
          <a:prstGeom prst="ellipse">
            <a:avLst/>
          </a:prstGeom>
          <a:solidFill>
            <a:srgbClr val="0A6E7C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1051560" cy="105156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6" y="1050646"/>
            <a:ext cx="504749" cy="5047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488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SALUD VISUAL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2606040"/>
            <a:ext cx="10424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Vecinos que vuelven a ver.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Municipios que previenen la ceguera.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452628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convenio de precios preferenciales entre el municipio y un centro oftalmológico para operar cataratas y prevenir la ceguera evitable en personas sin cobertura.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22960" y="5715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de Córdoba · Modelo adaptable a cualquier municipio o comuna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ceguera por catarata es evitable — pero muchos vecinos no pueden costear la cirugía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1F6F6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70662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3957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1.ª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1920240" y="31272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365760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catarata no operada es la principal causa de ceguera reversible en adultos mayores.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97680" y="214884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1F6F6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46888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270662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0" y="23957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</a:t>
            </a:r>
            <a:endParaRPr lang="en-US" sz="3800" dirty="0"/>
          </a:p>
        </p:txBody>
      </p:sp>
      <p:sp>
        <p:nvSpPr>
          <p:cNvPr id="14" name="Text 10"/>
          <p:cNvSpPr/>
          <p:nvPr/>
        </p:nvSpPr>
        <p:spPr>
          <a:xfrm>
            <a:off x="5669280" y="31272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ESPERA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617720" y="365760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sin obra social que quedan fuera del sistema y engrosan las listas de espera públicas.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8046720" y="214884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1F6F6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66760" y="246888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70662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418320" y="23957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</a:t>
            </a:r>
            <a:endParaRPr lang="en-US" sz="3800" dirty="0"/>
          </a:p>
        </p:txBody>
      </p:sp>
      <p:sp>
        <p:nvSpPr>
          <p:cNvPr id="20" name="Text 15"/>
          <p:cNvSpPr/>
          <p:nvPr/>
        </p:nvSpPr>
        <p:spPr>
          <a:xfrm>
            <a:off x="9418320" y="31272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PRIVADO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366760" y="365760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de la cirugía privada es inaccesible para la población de bajos recursos.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personas que pierden autonomía y calidad de vida por una cirugía de bajo costo relativo y alto impacto.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A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572000" cy="4572000"/>
          </a:xfrm>
          <a:prstGeom prst="ellipse">
            <a:avLst/>
          </a:prstGeom>
          <a:solidFill>
            <a:srgbClr val="0A3A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Precio preferencial: el Centro incluye el descuento, el Municipio paga el valor final, el vecino se opera gratis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474720" cy="3200400"/>
          </a:xfrm>
          <a:prstGeom prst="roundRect">
            <a:avLst>
              <a:gd name="adj" fmla="val 3429"/>
            </a:avLst>
          </a:prstGeom>
          <a:solidFill>
            <a:srgbClr val="0A3A44"/>
          </a:solidFill>
          <a:ln w="12700">
            <a:solidFill>
              <a:srgbClr val="0A6E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83080" y="2606040"/>
            <a:ext cx="1005840" cy="10058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4598" y="2867558"/>
            <a:ext cx="482803" cy="482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6118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Descuento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48640" y="4297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Centro aplica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6634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el descuento del Programa en el precio de cada práctica.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297680" y="2286000"/>
            <a:ext cx="3474720" cy="3200400"/>
          </a:xfrm>
          <a:prstGeom prst="roundRect">
            <a:avLst>
              <a:gd name="adj" fmla="val 3429"/>
            </a:avLst>
          </a:prstGeom>
          <a:solidFill>
            <a:srgbClr val="0A3A44"/>
          </a:solidFill>
          <a:ln w="12700">
            <a:solidFill>
              <a:srgbClr val="F0A20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532120" y="2606040"/>
            <a:ext cx="1005840" cy="100584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3638" y="2867558"/>
            <a:ext cx="482803" cy="482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97680" y="36118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Precio final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4297680" y="4297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financia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72000" y="46634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 el valor final de las prestaciones realizadas a sus vecinos.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46720" y="2286000"/>
            <a:ext cx="3474720" cy="3200400"/>
          </a:xfrm>
          <a:prstGeom prst="roundRect">
            <a:avLst>
              <a:gd name="adj" fmla="val 3429"/>
            </a:avLst>
          </a:prstGeom>
          <a:solidFill>
            <a:srgbClr val="0A3A44"/>
          </a:solidFill>
          <a:ln w="12700">
            <a:solidFill>
              <a:srgbClr val="4FB0A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281160" y="2606040"/>
            <a:ext cx="1005840" cy="1005840"/>
          </a:xfrm>
          <a:prstGeom prst="ellipse">
            <a:avLst/>
          </a:prstGeom>
          <a:solidFill>
            <a:srgbClr val="4FB0A5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678" y="2867558"/>
            <a:ext cx="482803" cy="482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46720" y="36118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3400" dirty="0"/>
          </a:p>
        </p:txBody>
      </p:sp>
      <p:sp>
        <p:nvSpPr>
          <p:cNvPr id="21" name="Text 16"/>
          <p:cNvSpPr/>
          <p:nvPr/>
        </p:nvSpPr>
        <p:spPr>
          <a:xfrm>
            <a:off x="8046720" y="4297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vecino recibe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321040" y="46634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a la cirugía sin costo (o con un copago mínimo).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valores son precios finales, con el descuento del Programa ya incluido. Lo que importa jurídicamente es el diseño transparente y auditable.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 jurídico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5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legal: el municipio tiene competencia en salud y puede pagar prestaciones a sus vecinos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514600"/>
            <a:ext cx="960120" cy="96012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" y="276423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35000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Derecho a la salud operativo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965960" y="28072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Constitución Nacional (arts. 42 y 75 incs. 22 y 23) y CSJN, «Campodónico»: el Estado, en todos sus niveles, debe garantizar la salud.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214884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10" name="Shape 7"/>
          <p:cNvSpPr/>
          <p:nvPr/>
        </p:nvSpPr>
        <p:spPr>
          <a:xfrm>
            <a:off x="6446520" y="2514600"/>
            <a:ext cx="960120" cy="96012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151" y="276423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89520" y="235000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Autonomía y competencia municipal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589520" y="28072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Constitución de Córdoba: autonomía municipal (art. 180) y competencia en salud, discapacidad y asistencia social (art. 186, inc. 7).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389120"/>
            <a:ext cx="960120" cy="96012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91" y="463875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422452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convenir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965960" y="468172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Orgánica Municipal N.° 8102 y art. 190 Const. Cba.: el municipio puede celebrar convenios y comprar prestaciones de salud.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72200" y="402336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20" name="Shape 15"/>
          <p:cNvSpPr/>
          <p:nvPr/>
        </p:nvSpPr>
        <p:spPr>
          <a:xfrm>
            <a:off x="6446520" y="4389120"/>
            <a:ext cx="960120" cy="96012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151" y="4638751"/>
            <a:ext cx="460858" cy="46085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89520" y="422452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Prevención de discapacidad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589520" y="468172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Leyes 22.431 y 24.901 y Convención de Discapacidad: prevenir la ceguera evitable es una acción positiva a favor de grupos vulnerables.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clave: gasto con fin público sanitario, pago contra prestación documentada — nunca una liberalidad al prestador.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beneficio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ganan: el municipio, los vecinos y el sistema sanitario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43434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868680" cy="86868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28325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03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municipio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063240"/>
            <a:ext cx="29718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salud de alto impacto y bajo costo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controlado por cupo y por prestación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transparente y auditable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Rédito social y comunicacional concreto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474720" cy="43434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2057400"/>
            <a:ext cx="868680" cy="8686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577" y="228325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2103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los vecinos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63440" y="3063240"/>
            <a:ext cx="29718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 gratuita o de copago mínimo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Recuperan visión y autonomía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cercana, sin viajar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Igualdad de acceso a la salud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783080"/>
            <a:ext cx="3474720" cy="43434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2057400"/>
            <a:ext cx="868680" cy="868680"/>
          </a:xfrm>
          <a:prstGeom prst="ellipse">
            <a:avLst/>
          </a:prstGeom>
          <a:solidFill>
            <a:srgbClr val="4FB0A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2283257"/>
            <a:ext cx="416966" cy="4169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72600" y="2103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sistema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12480" y="3063240"/>
            <a:ext cx="29718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Descomprime listas de espera públicas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costos de aparatología e infraestructura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capacidad instalada privada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Prevención de discapacidad visible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circuito simple, reglado y trazable — el municipio dirige y controla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5" name="Shape 3"/>
          <p:cNvSpPr/>
          <p:nvPr/>
        </p:nvSpPr>
        <p:spPr>
          <a:xfrm>
            <a:off x="1078992" y="251460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6736" y="275234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Elegibilidad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67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evalúa y declara elegible al vecino (residencia, sin cobertura, vulnerabilidad).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7744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2788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12" name="Shape 9"/>
          <p:cNvSpPr/>
          <p:nvPr/>
        </p:nvSpPr>
        <p:spPr>
          <a:xfrm>
            <a:off x="3364992" y="2514600"/>
            <a:ext cx="914400" cy="91440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2752344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34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2788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2953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Emite la orden de prestación y deriva al Centro dentro del cupo mensual.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66344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4"/>
          <p:cNvSpPr/>
          <p:nvPr/>
        </p:nvSpPr>
        <p:spPr>
          <a:xfrm>
            <a:off x="5074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19" name="Shape 15"/>
          <p:cNvSpPr/>
          <p:nvPr/>
        </p:nvSpPr>
        <p:spPr>
          <a:xfrm>
            <a:off x="5650992" y="251460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2752344"/>
            <a:ext cx="438912" cy="4389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20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5074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5239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Centro realiza la práctica con calidad y seguimiento postoperatorio.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94944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7360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26" name="Shape 21"/>
          <p:cNvSpPr/>
          <p:nvPr/>
        </p:nvSpPr>
        <p:spPr>
          <a:xfrm>
            <a:off x="7936992" y="2514600"/>
            <a:ext cx="914400" cy="91440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6" y="2752344"/>
            <a:ext cx="438912" cy="43891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06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7360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</a:t>
            </a:r>
            <a:endParaRPr lang="en-US" sz="1450" dirty="0"/>
          </a:p>
        </p:txBody>
      </p:sp>
      <p:sp>
        <p:nvSpPr>
          <p:cNvPr id="30" name="Text 24"/>
          <p:cNvSpPr/>
          <p:nvPr/>
        </p:nvSpPr>
        <p:spPr>
          <a:xfrm>
            <a:off x="7525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audita la práctica y verifica documentación y resultados.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923544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32" name="Shape 26"/>
          <p:cNvSpPr/>
          <p:nvPr/>
        </p:nvSpPr>
        <p:spPr>
          <a:xfrm>
            <a:off x="9646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33" name="Shape 27"/>
          <p:cNvSpPr/>
          <p:nvPr/>
        </p:nvSpPr>
        <p:spPr>
          <a:xfrm>
            <a:off x="10222992" y="251460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2752344"/>
            <a:ext cx="438912" cy="438912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692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6" name="Text 29"/>
          <p:cNvSpPr/>
          <p:nvPr/>
        </p:nvSpPr>
        <p:spPr>
          <a:xfrm>
            <a:off x="9646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</a:t>
            </a:r>
            <a:endParaRPr lang="en-US" sz="1450" dirty="0"/>
          </a:p>
        </p:txBody>
      </p:sp>
      <p:sp>
        <p:nvSpPr>
          <p:cNvPr id="37" name="Text 30"/>
          <p:cNvSpPr/>
          <p:nvPr/>
        </p:nvSpPr>
        <p:spPr>
          <a:xfrm>
            <a:off x="9811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paga el valor final contra factura, al precio del Programa (descuento incluido).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puede derivar, autorizar, auditar, fijar cupos, priorizar, exigir informes y resultados, y rescindir. Todo ello refuerza la validez del programa.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40" name="Text 33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A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económico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Transparente y auditable: el municipio paga menos que el valor de mercado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 de catarata — precios del Programa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3A4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286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mercado (ref.)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931920" y="228600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$ 1.050.000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944368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3A4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4436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Programa — con lente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931920" y="2944368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$ 1.000.000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3A44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02736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Programa — sin lente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931920" y="3602736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$ 850.000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261104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3A44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26110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cargo del vecino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931920" y="4261104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07492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finales con el descuento del Programa ya incluido. Con lente: $1.000.000 el 1.er ojo y $850.000 el 2.º ojo. Sin lente: $850.000 (lente a cargo del paciente).</a:t>
            </a:r>
            <a:endParaRPr lang="en-US" sz="125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6309360" y="192024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del riesgo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Diseñado para pasar el control del Tribunal de Cuentas sin observaciones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585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42" y="2460650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2219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Ordenanza y partida previas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22960" y="29535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se crea por ordenanza, con crédito presupuestario imputado antes del gasto.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9768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22585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082" y="2460650"/>
            <a:ext cx="373075" cy="3730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40680" y="22219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referencia fundado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72000" y="29535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Nomenclador uniforme (valores APROSS/PAMI o de mercado), no fijado caso por caso.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4672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15" name="Shape 11"/>
          <p:cNvSpPr/>
          <p:nvPr/>
        </p:nvSpPr>
        <p:spPr>
          <a:xfrm>
            <a:off x="8321040" y="22585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3122" y="2460650"/>
            <a:ext cx="373075" cy="37307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89720" y="22219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 por paciente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321040" y="29535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Elegibilidad, autorización, consentimiento, práctica, factura al precio del Programa e informe médico.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0233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20" name="Shape 15"/>
          <p:cNvSpPr/>
          <p:nvPr/>
        </p:nvSpPr>
        <p:spPr>
          <a:xfrm>
            <a:off x="822960" y="43159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042" y="4518050"/>
            <a:ext cx="373075" cy="37307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42793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transparente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822960" y="50109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abierto de adhesión o contratación conforme el régimen: neutraliza la competencia desleal.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297680" y="40233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25" name="Shape 19"/>
          <p:cNvSpPr/>
          <p:nvPr/>
        </p:nvSpPr>
        <p:spPr>
          <a:xfrm>
            <a:off x="4572000" y="43159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4082" y="4518050"/>
            <a:ext cx="373075" cy="37307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440680" y="42793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contra prestación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572000" y="50109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anticipos: se paga la práctica efectivamente realizada y auditada.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046720" y="40233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30" name="Shape 23"/>
          <p:cNvSpPr/>
          <p:nvPr/>
        </p:nvSpPr>
        <p:spPr>
          <a:xfrm>
            <a:off x="8321040" y="43159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3122" y="4518050"/>
            <a:ext cx="373075" cy="37307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189720" y="42793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superposición de cobertura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321040" y="50109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excluye a quienes tengan obra social vigente (PAMI/APROSS): evita conflictos.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Lección del caso Necochea: se rechazó un convenio opaco y con contraprestación en especie. Aquí: ordenanza, datos y reglas claras.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éxito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que demuestran el impacto y respaldan la continuidad del programa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69473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2860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N.º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874520" y="301752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Cirugías realizadas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2468880"/>
            <a:ext cx="868680" cy="8686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577" y="269473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22860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5623560" y="301752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lista de espera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2468880"/>
            <a:ext cx="868680" cy="86868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2694737"/>
            <a:ext cx="416966" cy="4169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72600" y="22860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30d</a:t>
            </a:r>
            <a:endParaRPr lang="en-US" sz="3000" dirty="0"/>
          </a:p>
        </p:txBody>
      </p:sp>
      <p:sp>
        <p:nvSpPr>
          <p:cNvPr id="18" name="Text 13"/>
          <p:cNvSpPr/>
          <p:nvPr/>
        </p:nvSpPr>
        <p:spPr>
          <a:xfrm>
            <a:off x="9372600" y="301752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turno a cirugía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406908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68680" y="4572000"/>
            <a:ext cx="868680" cy="8686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537" y="4797857"/>
            <a:ext cx="416966" cy="4169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874520" y="4389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&gt;95%</a:t>
            </a:r>
            <a:endParaRPr lang="en-US" sz="3000" dirty="0"/>
          </a:p>
        </p:txBody>
      </p:sp>
      <p:sp>
        <p:nvSpPr>
          <p:cNvPr id="23" name="Text 17"/>
          <p:cNvSpPr/>
          <p:nvPr/>
        </p:nvSpPr>
        <p:spPr>
          <a:xfrm>
            <a:off x="1874520" y="512064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Éxito quirúrgico / sin complicaciones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4297680" y="406908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17720" y="4572000"/>
            <a:ext cx="868680" cy="86868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3577" y="4797857"/>
            <a:ext cx="416966" cy="41696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623560" y="4389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</a:t>
            </a:r>
            <a:endParaRPr lang="en-US" sz="3000" dirty="0"/>
          </a:p>
        </p:txBody>
      </p:sp>
      <p:sp>
        <p:nvSpPr>
          <p:cNvPr id="28" name="Text 21"/>
          <p:cNvSpPr/>
          <p:nvPr/>
        </p:nvSpPr>
        <p:spPr>
          <a:xfrm>
            <a:off x="5623560" y="512064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de agudeza visual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046720" y="406908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66760" y="4572000"/>
            <a:ext cx="868680" cy="8686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2617" y="4797857"/>
            <a:ext cx="416966" cy="41696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372600" y="4389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</a:t>
            </a:r>
            <a:endParaRPr lang="en-US" sz="3000" dirty="0"/>
          </a:p>
        </p:txBody>
      </p:sp>
      <p:sp>
        <p:nvSpPr>
          <p:cNvPr id="33" name="Text 25"/>
          <p:cNvSpPr/>
          <p:nvPr/>
        </p:nvSpPr>
        <p:spPr>
          <a:xfrm>
            <a:off x="9372600" y="512064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Satisfacción del paciente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Reportados en un tablero periódico al Concejo Deliberante y al Tribunal de Cuentas — transparencia activa.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acuerdo al primer operado en pocas semanas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097280" y="3063240"/>
            <a:ext cx="9966960" cy="0"/>
          </a:xfrm>
          <a:prstGeom prst="line">
            <a:avLst/>
          </a:prstGeom>
          <a:noFill/>
          <a:ln w="25400">
            <a:solidFill>
              <a:srgbClr val="4FB0A5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371600" y="260604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9344" y="284378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1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406908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 y ordenanza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4754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Presentación, convenio marco y sanción de la ordenanza habilitante.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160520" y="2606040"/>
            <a:ext cx="914400" cy="91440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284378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3756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2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3337560" y="406908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15" name="Text 11"/>
          <p:cNvSpPr/>
          <p:nvPr/>
        </p:nvSpPr>
        <p:spPr>
          <a:xfrm>
            <a:off x="347472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a punto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520440" y="4754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Nomenclador, cupos, circuito de admisión y difusión a los vecinos.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949440" y="260604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184" y="284378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2648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3–4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6126480" y="406908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21" name="Text 16"/>
          <p:cNvSpPr/>
          <p:nvPr/>
        </p:nvSpPr>
        <p:spPr>
          <a:xfrm>
            <a:off x="626364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cirugías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309360" y="4754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Derivación, operaciones y seguimiento; auditoría y primeros pagos.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9738360" y="2606040"/>
            <a:ext cx="914400" cy="91440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6104" y="2843784"/>
            <a:ext cx="438912" cy="43891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91540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5–6</a:t>
            </a:r>
            <a:endParaRPr lang="en-US" sz="1700" dirty="0"/>
          </a:p>
        </p:txBody>
      </p:sp>
      <p:sp>
        <p:nvSpPr>
          <p:cNvPr id="26" name="Shape 20"/>
          <p:cNvSpPr/>
          <p:nvPr/>
        </p:nvSpPr>
        <p:spPr>
          <a:xfrm>
            <a:off x="8915400" y="406908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27" name="Text 21"/>
          <p:cNvSpPr/>
          <p:nvPr/>
        </p:nvSpPr>
        <p:spPr>
          <a:xfrm>
            <a:off x="905256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9098280" y="4754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Indicadores, informe de impacto y decisión de renovación/ampliación.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Empezar chico, probar el modelo, y escalar a toda la provincia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83080" y="2286000"/>
            <a:ext cx="1005840" cy="10058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4598" y="254751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429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Programa piloto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68680" y="397764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Municipio o comuna pequeño (Ley 8102): trámite ágil, cupo acotado y 6 meses de prueba con métricas.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96596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32120" y="2286000"/>
            <a:ext cx="1005840" cy="100584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3638" y="2547518"/>
            <a:ext cx="482803" cy="482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3429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Expansión provincial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617720" y="397764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 en municipios con Carta Orgánica; mismo modelo (ordenanza + convenio + anexos), ajustado a cada normativa local.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46720" y="196596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281160" y="2286000"/>
            <a:ext cx="1005840" cy="1005840"/>
          </a:xfrm>
          <a:prstGeom prst="ellipse">
            <a:avLst/>
          </a:prstGeom>
          <a:solidFill>
            <a:srgbClr val="4FB0A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678" y="2547518"/>
            <a:ext cx="482803" cy="482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3429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Escala nacional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366760" y="397764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reutilizable en otras provincias, adaptando la base normativa y el nomenclador de cada jurisdicción.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217920" cy="6217920"/>
          </a:xfrm>
          <a:prstGeom prst="ellipse">
            <a:avLst/>
          </a:prstGeom>
          <a:solidFill>
            <a:srgbClr val="0A3A44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3474720"/>
            <a:ext cx="3657600" cy="3657600"/>
          </a:xfrm>
          <a:prstGeom prst="ellipse">
            <a:avLst/>
          </a:prstGeom>
          <a:solidFill>
            <a:srgbClr val="0A6E7C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868680"/>
            <a:ext cx="1097280" cy="10972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253" y="1153973"/>
            <a:ext cx="526694" cy="52669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2402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Propongámoslo juntos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04672" y="2697480"/>
            <a:ext cx="10241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programa que devuelve visión a los vecinos</a:t>
            </a:r>
            <a:endParaRPr lang="en-US" sz="33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prestigio a la gestión municipal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822960" y="443484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Llevamos el paquete completo: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técnica jurídica · modelo de convenio · proyecto de ordenanza · esta presentación.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525780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inicio: programa piloto de 6 meses, cupo acotado y evaluación por métricas de impacto.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· Provincia de Córdoba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2026-07-22T16:13:10Z</dcterms:created>
  <dcterms:modified xsi:type="dcterms:W3CDTF">2026-07-22T16:13:10Z</dcterms:modified>
</cp:coreProperties>
</file>