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500" b="0" i="0" u="none" strike="noStrike">
                <a:solidFill>
                  <a:srgbClr val="FFFFFF"/>
                </a:solidFill>
                <a:latin typeface="Calibri"/>
              </a:rPr>
              <a:t>Reparto del costo por prestación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Reparto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B0A5"/>
              </a:solidFill>
              <a:effectLst/>
            </c:spPr>
          </c:dPt>
          <c:dPt>
            <c:idx val="1"/>
            <c:bubble3D val="0"/>
            <c:spPr>
              <a:solidFill>
                <a:srgbClr val="F0A20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0F2A31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500" b="1" i="0" u="none" strike="noStrike">
                      <a:solidFill>
                        <a:srgbClr val="0F2A31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Bonifica el Centro</c:v>
                </c:pt>
                <c:pt idx="1">
                  <c:v>Financia el Municipio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CFE3E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0A3A44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3291840"/>
            <a:ext cx="3840480" cy="3840480"/>
          </a:xfrm>
          <a:prstGeom prst="ellipse">
            <a:avLst/>
          </a:prstGeom>
          <a:solidFill>
            <a:srgbClr val="0A6E7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1051560" cy="105156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366" y="1050646"/>
            <a:ext cx="504749" cy="5047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4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SALUD VISUAL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60604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Vecinos que vuelven a ver.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Municipios que previenen la ceguera.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52628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convenio de precios preferenciales entre el municipio y un centro oftalmológico para operar cataratas y prevenir la ceguera evitable en personas sin cobertura.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5715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 de Córdoba · Modelo adaptable a cualquier municipio o comuna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ceguera por catarata es evitable — pero muchos vecinos no pueden costear la cirugía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5400000">
              <a:srgbClr val="9FB6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68880"/>
            <a:ext cx="914400" cy="91440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7066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39572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1.ª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1920240" y="31272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catarata no operada es la principal causa de ceguera reversible en adultos mayores.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297680" y="214884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5400000">
              <a:srgbClr val="9FB6B8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468880"/>
            <a:ext cx="914400" cy="91440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70662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239572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5669280" y="31272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ESPERA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17720" y="365760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sin obra social que quedan fuera del sistema y engrosan las listas de espera públicas.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8046720" y="214884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F1F6F6"/>
          </a:solidFill>
          <a:ln/>
          <a:effectLst>
            <a:outerShdw sx="100000" sy="100000" kx="0" ky="0" algn="bl" rotWithShape="0" blurRad="101600" dist="38100" dir="5400000">
              <a:srgbClr val="9FB6B8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2468880"/>
            <a:ext cx="914400" cy="91440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504" y="270662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418320" y="239572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Alto</a:t>
            </a:r>
            <a:endParaRPr lang="en-US" sz="3800" dirty="0"/>
          </a:p>
        </p:txBody>
      </p:sp>
      <p:sp>
        <p:nvSpPr>
          <p:cNvPr id="20" name="Text 15"/>
          <p:cNvSpPr/>
          <p:nvPr/>
        </p:nvSpPr>
        <p:spPr>
          <a:xfrm>
            <a:off x="9418320" y="31272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PRIVADO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366760" y="365760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de la cirugía privada es inaccesible para la población de bajos recursos.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personas que pierden autonomía y calidad de vida por una cirugía de bajo costo relativo y alto impacto.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457200" y="64465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Municipal de Salud Visual y Prevención de Ceguera Evitable  ·  Propuesta institucional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389120"/>
            <a:ext cx="4572000" cy="4572000"/>
          </a:xfrm>
          <a:prstGeom prst="ellipse">
            <a:avLst/>
          </a:prstGeom>
          <a:solidFill>
            <a:srgbClr val="0A3A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Precio preferencial: el Centro incluye el descuento, el Municipio paga el valor final, el vecino se opera gratis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74720" cy="3200400"/>
          </a:xfrm>
          <a:prstGeom prst="roundRect">
            <a:avLst>
              <a:gd name="adj" fmla="val 3429"/>
            </a:avLst>
          </a:prstGeom>
          <a:solidFill>
            <a:srgbClr val="0A3A44"/>
          </a:solidFill>
          <a:ln w="12700">
            <a:solidFill>
              <a:srgbClr val="0A6E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3080" y="2606040"/>
            <a:ext cx="1005840" cy="100584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598" y="2867558"/>
            <a:ext cx="482803" cy="482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6118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6E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Descuento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48640" y="4297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Centro aplica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4663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el descuento del Programa en el precio de cada práctica.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2286000"/>
            <a:ext cx="3474720" cy="3200400"/>
          </a:xfrm>
          <a:prstGeom prst="roundRect">
            <a:avLst>
              <a:gd name="adj" fmla="val 3429"/>
            </a:avLst>
          </a:prstGeom>
          <a:solidFill>
            <a:srgbClr val="0A3A44"/>
          </a:solidFill>
          <a:ln w="12700">
            <a:solidFill>
              <a:srgbClr val="F0A20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32120" y="2606040"/>
            <a:ext cx="1005840" cy="100584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638" y="2867558"/>
            <a:ext cx="482803" cy="482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97680" y="36118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Precio final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4297680" y="4297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Municipio financia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72000" y="4663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el valor final de las prestaciones realizadas a sus vecinos.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046720" y="2286000"/>
            <a:ext cx="3474720" cy="3200400"/>
          </a:xfrm>
          <a:prstGeom prst="roundRect">
            <a:avLst>
              <a:gd name="adj" fmla="val 3429"/>
            </a:avLst>
          </a:prstGeom>
          <a:solidFill>
            <a:srgbClr val="0A3A44"/>
          </a:solidFill>
          <a:ln w="12700">
            <a:solidFill>
              <a:srgbClr val="4FB0A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281160" y="2606040"/>
            <a:ext cx="1005840" cy="1005840"/>
          </a:xfrm>
          <a:prstGeom prst="ellipse">
            <a:avLst/>
          </a:prstGeom>
          <a:solidFill>
            <a:srgbClr val="4FB0A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678" y="2867558"/>
            <a:ext cx="482803" cy="482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46720" y="361188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FB0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400" dirty="0"/>
          </a:p>
        </p:txBody>
      </p:sp>
      <p:sp>
        <p:nvSpPr>
          <p:cNvPr id="21" name="Text 16"/>
          <p:cNvSpPr/>
          <p:nvPr/>
        </p:nvSpPr>
        <p:spPr>
          <a:xfrm>
            <a:off x="8046720" y="4297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vecino recibe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321040" y="4663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la cirugía sin costo (o con un copago mínimo).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valores son precios finales, con el descuento del Programa ya incluido. Lo que importa jurídicamente es el diseño transparente y auditable.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57200" y="64465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Municipal de Salud Visual y Prevención de Ceguera Evitable  ·  Propuesta institucional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jurídico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legal: el municipio tiene competencia en salud y puede pagar prestaciones a sus vecinos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1F6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514600"/>
            <a:ext cx="960120" cy="96012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591" y="276423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3500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 a la salud operativo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965960" y="280720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Constitución Nacional (arts. 42 y 75 incs. 22 y 23) y CSJN, «Campodónico»: el Estado, en todos sus niveles, debe garantizar la salud.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214884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1F6F6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514600"/>
            <a:ext cx="960120" cy="96012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151" y="276423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3500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 y competencia municipal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589520" y="280720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Constitución de Córdoba: autonomía municipal (art. 180) y competencia en salud, discapacidad y asistencia social (art. 186, inc. 7).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1F6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89120"/>
            <a:ext cx="960120" cy="96012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" y="463875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2245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convenir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965960" y="468172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Orgánica Municipal N.° 8102 y art. 190 Const. Cba.: el municipio puede celebrar convenios y comprar prestaciones de salud.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40233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1F6F6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389120"/>
            <a:ext cx="960120" cy="96012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151" y="463875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42245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discapacidad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589520" y="4681728"/>
            <a:ext cx="3794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Leyes 22.431 y 24.901 y Convención de Discapacidad: prevenir la ceguera evitable es una acción positiva a favor de grupos vulnerables.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clave: gasto con fin público sanitario, pago contra prestación documentada — nunca una liberalidad al prestador.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Municipal de Salud Visual y Prevención de Ceguera Evitable  ·  Propuesta institucional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beneficio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ganan: el municipio, los vecinos y el sistema sanitario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43434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FB6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031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municipio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salud de alto impacto y bajo costo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controlado por cupo y por prestación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transparente y auditable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vecino que vuelve a ver agradece y recomienda la gestión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474720" cy="43434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FB6B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057400"/>
            <a:ext cx="868680" cy="86868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577" y="228325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21031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los vecinos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06324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 gratuita o de copago mínimo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Recuperan visión y autonomía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cercana, sin viajar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Igualdad de acceso a la salud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474720" cy="43434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FB6B8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057400"/>
            <a:ext cx="868680" cy="868680"/>
          </a:xfrm>
          <a:prstGeom prst="ellipse">
            <a:avLst/>
          </a:prstGeom>
          <a:solidFill>
            <a:srgbClr val="4FB0A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228325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72600" y="21031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sistema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12480" y="3063240"/>
            <a:ext cx="29718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Descomprime listas de espera públicas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costos de aparatología e infraestructura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capacidad instalada privada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discapacidad visible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Municipal de Salud Visual y Prevención de Ceguera Evitable  ·  Propuesta institucional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circuito simple, reglado y trazable — el municipio dirige y controla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2057400" cy="3108960"/>
          </a:xfrm>
          <a:prstGeom prst="roundRect">
            <a:avLst>
              <a:gd name="adj" fmla="val 4444"/>
            </a:avLst>
          </a:prstGeom>
          <a:solidFill>
            <a:srgbClr val="F1F6F6"/>
          </a:solidFill>
          <a:ln/>
        </p:spPr>
      </p:sp>
      <p:sp>
        <p:nvSpPr>
          <p:cNvPr id="5" name="Shape 3"/>
          <p:cNvSpPr/>
          <p:nvPr/>
        </p:nvSpPr>
        <p:spPr>
          <a:xfrm>
            <a:off x="1078992" y="2514600"/>
            <a:ext cx="914400" cy="91440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27523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B0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Elegibilidad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67512" y="39319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municipio evalúa y declara elegible al vecino (residencia, sin cobertura, vulnerabilidad).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377440" y="2788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2788920" y="2286000"/>
            <a:ext cx="2057400" cy="3108960"/>
          </a:xfrm>
          <a:prstGeom prst="roundRect">
            <a:avLst>
              <a:gd name="adj" fmla="val 4444"/>
            </a:avLst>
          </a:prstGeom>
          <a:solidFill>
            <a:srgbClr val="F1F6F6"/>
          </a:solidFill>
          <a:ln/>
        </p:spPr>
      </p:sp>
      <p:sp>
        <p:nvSpPr>
          <p:cNvPr id="12" name="Shape 9"/>
          <p:cNvSpPr/>
          <p:nvPr/>
        </p:nvSpPr>
        <p:spPr>
          <a:xfrm>
            <a:off x="3364992" y="2514600"/>
            <a:ext cx="914400" cy="91440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275234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34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B0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2788920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2953512" y="39319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Emite la orden de prestación y deriva al Centro dentro del cupo mensual.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63440" y="2788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5074920" y="2286000"/>
            <a:ext cx="2057400" cy="3108960"/>
          </a:xfrm>
          <a:prstGeom prst="roundRect">
            <a:avLst>
              <a:gd name="adj" fmla="val 4444"/>
            </a:avLst>
          </a:prstGeom>
          <a:solidFill>
            <a:srgbClr val="F1F6F6"/>
          </a:solidFill>
          <a:ln/>
        </p:spPr>
      </p:sp>
      <p:sp>
        <p:nvSpPr>
          <p:cNvPr id="19" name="Shape 15"/>
          <p:cNvSpPr/>
          <p:nvPr/>
        </p:nvSpPr>
        <p:spPr>
          <a:xfrm>
            <a:off x="5650992" y="2514600"/>
            <a:ext cx="914400" cy="91440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2752344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20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B0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5074920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5239512" y="39319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Centro realiza la práctica con calidad y seguimiento postoperatorio.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949440" y="2788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25" name="Shape 20"/>
          <p:cNvSpPr/>
          <p:nvPr/>
        </p:nvSpPr>
        <p:spPr>
          <a:xfrm>
            <a:off x="7360920" y="2286000"/>
            <a:ext cx="2057400" cy="3108960"/>
          </a:xfrm>
          <a:prstGeom prst="roundRect">
            <a:avLst>
              <a:gd name="adj" fmla="val 4444"/>
            </a:avLst>
          </a:prstGeom>
          <a:solidFill>
            <a:srgbClr val="F1F6F6"/>
          </a:solidFill>
          <a:ln/>
        </p:spPr>
      </p:sp>
      <p:sp>
        <p:nvSpPr>
          <p:cNvPr id="26" name="Shape 21"/>
          <p:cNvSpPr/>
          <p:nvPr/>
        </p:nvSpPr>
        <p:spPr>
          <a:xfrm>
            <a:off x="7936992" y="2514600"/>
            <a:ext cx="914400" cy="91440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752344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06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B0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7360920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7525512" y="39319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municipio audita la práctica y verifica documentación y resultados.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235440" y="2788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32" name="Shape 26"/>
          <p:cNvSpPr/>
          <p:nvPr/>
        </p:nvSpPr>
        <p:spPr>
          <a:xfrm>
            <a:off x="9646920" y="2286000"/>
            <a:ext cx="2057400" cy="3108960"/>
          </a:xfrm>
          <a:prstGeom prst="roundRect">
            <a:avLst>
              <a:gd name="adj" fmla="val 4444"/>
            </a:avLst>
          </a:prstGeom>
          <a:solidFill>
            <a:srgbClr val="F1F6F6"/>
          </a:solidFill>
          <a:ln/>
        </p:spPr>
      </p:sp>
      <p:sp>
        <p:nvSpPr>
          <p:cNvPr id="33" name="Shape 27"/>
          <p:cNvSpPr/>
          <p:nvPr/>
        </p:nvSpPr>
        <p:spPr>
          <a:xfrm>
            <a:off x="10222992" y="2514600"/>
            <a:ext cx="914400" cy="91440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36" y="2752344"/>
            <a:ext cx="438912" cy="43891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92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B0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Text 29"/>
          <p:cNvSpPr/>
          <p:nvPr/>
        </p:nvSpPr>
        <p:spPr>
          <a:xfrm>
            <a:off x="9646920" y="3566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1450" dirty="0"/>
          </a:p>
        </p:txBody>
      </p:sp>
      <p:sp>
        <p:nvSpPr>
          <p:cNvPr id="37" name="Text 30"/>
          <p:cNvSpPr/>
          <p:nvPr/>
        </p:nvSpPr>
        <p:spPr>
          <a:xfrm>
            <a:off x="9811512" y="393192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 el valor final contra factura, al precio del Programa (descuento incluido).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0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municipio puede derivar, autorizar, auditar, fijar cupos, priorizar, exigir informes y resultados, y rescindir. Todo ello refuerza la validez del programa.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457200" y="64465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Municipal de Salud Visual y Prevención de Ceguera Evitable  ·  Propuesta institucional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económico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municipio paga bastante menos que el valor particular de mercado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 de catarata — por ojo, todo incluido (con lente monofocal)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0A3A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particular de mercado (ref.)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931920" y="22860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$ 1.200.000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44368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0A3A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443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del Programa (por ojo)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931920" y="294436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4FB0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$ 850.000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602736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0A3A4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0273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para el municipio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31920" y="3602736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29%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261104"/>
            <a:ext cx="5212080" cy="548640"/>
          </a:xfrm>
          <a:prstGeom prst="roundRect">
            <a:avLst>
              <a:gd name="adj" fmla="val 10000"/>
            </a:avLst>
          </a:prstGeom>
          <a:solidFill>
            <a:srgbClr val="0A3A4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6110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cargo del vecino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931920" y="4261104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4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final con lente monofocal incluida, ambos ojos, con el descuento del Programa ya aplicado. Valor particular de mercado de referencia estimado a partir de precios publicados de cirugía de catarata (lente monofocal, todo incluido) en Argentina 2024-2025 y del rango en dólares (USD 700-1.200 por ojo). El vecino que recupera la vista agradece y recomienda el programa: rédito social y político para la gestión.</a:t>
            </a:r>
            <a:endParaRPr lang="en-US" sz="12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309360" y="192024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64465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Municipal de Salud Visual y Prevención de Ceguera Evitable  ·  Propuesta institucional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F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riesgo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Diseñado para pasar el control del Tribunal de Cuentas sin observaciones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1F6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58568"/>
            <a:ext cx="777240" cy="77724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460650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2199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Ordenanza y partida previas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953512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se crea por ordenanza, con crédito presupuestario imputado antes del gasto.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1F6F6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258568"/>
            <a:ext cx="777240" cy="77724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082" y="2460650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222199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referencia fundado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0" y="2953512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Nomenclador uniforme (valores APROSS/PAMI o de mercado), no fijado caso por caso.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96596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1F6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2258568"/>
            <a:ext cx="777240" cy="77724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122" y="2460650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9720" y="222199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por paciente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21040" y="2953512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Elegibilidad, autorización, consentimiento, práctica, factura al precio del Programa e informe médico.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1F6F6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315968"/>
            <a:ext cx="777240" cy="77724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42" y="4518050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27939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transparente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22960" y="5010912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abierto de adhesión o contratación conforme el régimen: neutraliza la competencia desleal.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402336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1F6F6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315968"/>
            <a:ext cx="777240" cy="77724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4082" y="4518050"/>
            <a:ext cx="373075" cy="37307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427939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contra prestación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72000" y="5010912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anticipos: se paga la práctica efectivamente realizada y auditada.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402336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1F6F6"/>
          </a:solidFill>
          <a:ln/>
        </p:spPr>
      </p:sp>
      <p:sp>
        <p:nvSpPr>
          <p:cNvPr id="30" name="Shape 23"/>
          <p:cNvSpPr/>
          <p:nvPr/>
        </p:nvSpPr>
        <p:spPr>
          <a:xfrm>
            <a:off x="8321040" y="4315968"/>
            <a:ext cx="777240" cy="77724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122" y="4518050"/>
            <a:ext cx="373075" cy="37307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89720" y="427939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superposición de cobertura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21040" y="5010912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excluye a quienes tengan obra social vigente (PAMI/APROSS): evita conflictos.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del caso Necochea: se rechazó un convenio opaco y con contraprestación en especie. Aquí: ordenanza, datos y reglas claras.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457200" y="64465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Municipal de Salud Visual y Prevención de Ceguera Evitable  ·  Propuesta institucional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éxito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que demuestran el impacto y respaldan la continuidad del programa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FB6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68880"/>
            <a:ext cx="868680" cy="86868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69473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860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6E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N.º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874520" y="30175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Cirugías realizadas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FB6B8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468880"/>
            <a:ext cx="868680" cy="86868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577" y="269473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22860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5623560" y="30175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lista de espera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96596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FB6B8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468880"/>
            <a:ext cx="868680" cy="86868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269473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72600" y="22860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6E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30d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9372600" y="30175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turno a cirugía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FB6B8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572000"/>
            <a:ext cx="868680" cy="86868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537" y="479785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520" y="43891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&gt;95%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1874520" y="51206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Éxito quirúrgico / sin complicaciones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297680" y="40690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FB6B8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572000"/>
            <a:ext cx="868680" cy="86868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577" y="4797857"/>
            <a:ext cx="416966" cy="41696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23560" y="43891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6E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</a:t>
            </a:r>
            <a:endParaRPr lang="en-US" sz="3000" dirty="0"/>
          </a:p>
        </p:txBody>
      </p:sp>
      <p:sp>
        <p:nvSpPr>
          <p:cNvPr id="28" name="Text 21"/>
          <p:cNvSpPr/>
          <p:nvPr/>
        </p:nvSpPr>
        <p:spPr>
          <a:xfrm>
            <a:off x="5623560" y="51206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 agudeza visual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46720" y="4069080"/>
            <a:ext cx="3474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9FB6B8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572000"/>
            <a:ext cx="868680" cy="86868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2617" y="4797857"/>
            <a:ext cx="416966" cy="41696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72600" y="43891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3000" dirty="0"/>
          </a:p>
        </p:txBody>
      </p:sp>
      <p:sp>
        <p:nvSpPr>
          <p:cNvPr id="33" name="Text 25"/>
          <p:cNvSpPr/>
          <p:nvPr/>
        </p:nvSpPr>
        <p:spPr>
          <a:xfrm>
            <a:off x="9372600" y="51206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 del paciente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Reportados en un tablero periódico al Concejo Deliberante y al Tribunal de Cuentas — transparencia activa.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acuerdo al primer operado en pocas semanas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3063240"/>
            <a:ext cx="9966960" cy="0"/>
          </a:xfrm>
          <a:prstGeom prst="line">
            <a:avLst/>
          </a:prstGeom>
          <a:noFill/>
          <a:ln w="25400">
            <a:solidFill>
              <a:srgbClr val="4FB0A5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371600" y="2606040"/>
            <a:ext cx="914400" cy="91440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44" y="28437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6E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1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40690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1F6F6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4206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y ordenanza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4754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Presentación, convenio marco y sanción de la ordenanza habilitante.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60520" y="2606040"/>
            <a:ext cx="914400" cy="91440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264" y="284378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2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337560" y="40690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1F6F6"/>
          </a:solidFill>
          <a:ln/>
        </p:spPr>
      </p:sp>
      <p:sp>
        <p:nvSpPr>
          <p:cNvPr id="15" name="Text 11"/>
          <p:cNvSpPr/>
          <p:nvPr/>
        </p:nvSpPr>
        <p:spPr>
          <a:xfrm>
            <a:off x="3474720" y="4206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a punto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20440" y="4754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Nomenclador, cupos, circuito de admisión y difusión a los vecinos.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949440" y="2606040"/>
            <a:ext cx="914400" cy="91440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284378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6E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3–4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6126480" y="40690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1F6F6"/>
          </a:solidFill>
          <a:ln/>
        </p:spPr>
      </p:sp>
      <p:sp>
        <p:nvSpPr>
          <p:cNvPr id="21" name="Text 16"/>
          <p:cNvSpPr/>
          <p:nvPr/>
        </p:nvSpPr>
        <p:spPr>
          <a:xfrm>
            <a:off x="6263640" y="4206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cirugías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309360" y="4754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Derivación, operaciones y seguimiento; auditoría y primeros pagos.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738360" y="2606040"/>
            <a:ext cx="914400" cy="91440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6104" y="2843784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1540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A20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 5–6</a:t>
            </a:r>
            <a:endParaRPr lang="en-US" sz="1700" dirty="0"/>
          </a:p>
        </p:txBody>
      </p:sp>
      <p:sp>
        <p:nvSpPr>
          <p:cNvPr id="26" name="Shape 20"/>
          <p:cNvSpPr/>
          <p:nvPr/>
        </p:nvSpPr>
        <p:spPr>
          <a:xfrm>
            <a:off x="8915400" y="40690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1F6F6"/>
          </a:solidFill>
          <a:ln/>
        </p:spPr>
      </p:sp>
      <p:sp>
        <p:nvSpPr>
          <p:cNvPr id="27" name="Text 21"/>
          <p:cNvSpPr/>
          <p:nvPr/>
        </p:nvSpPr>
        <p:spPr>
          <a:xfrm>
            <a:off x="9052560" y="4206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9098280" y="475488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Indicadores, informe de impacto y decisión de renovación/ampliación.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457200" y="64465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Municipal de Salud Visual y Prevención de Ceguera Evitable  ·  Propuesta institucional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A6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3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Empezar chico, probar el modelo, y escalar a toda la provincia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3977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FB6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83080" y="2286000"/>
            <a:ext cx="1005840" cy="1005840"/>
          </a:xfrm>
          <a:prstGeom prst="ellipse">
            <a:avLst/>
          </a:prstGeom>
          <a:solidFill>
            <a:srgbClr val="0A6E7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598" y="254751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29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Programa piloto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 o comuna pequeño (Ley 8102): trámite ágil, cupo acotado y 6 meses de prueba con métricas.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297680" y="1965960"/>
            <a:ext cx="3474720" cy="3977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FB6B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32120" y="2286000"/>
            <a:ext cx="1005840" cy="100584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638" y="254751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3429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Expansión provincial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17720" y="397764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 en municipios con Carta Orgánica; mismo modelo (ordenanza + convenio + anexos), ajustado a cada normativa local.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46720" y="1965960"/>
            <a:ext cx="3474720" cy="39776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FB6B8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81160" y="2286000"/>
            <a:ext cx="1005840" cy="1005840"/>
          </a:xfrm>
          <a:prstGeom prst="ellipse">
            <a:avLst/>
          </a:prstGeom>
          <a:solidFill>
            <a:srgbClr val="4FB0A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678" y="2547518"/>
            <a:ext cx="482803" cy="482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3429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33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Escala nacional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366760" y="3977640"/>
            <a:ext cx="2834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reutilizable en otras provincias, adaptando la base normativa y el nomenclador de cada jurisdicción.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57200" y="64465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Municipal de Salud Visual y Prevención de Ceguera Evitable  ·  Propuesta institucional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9284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217920" cy="6217920"/>
          </a:xfrm>
          <a:prstGeom prst="ellipse">
            <a:avLst/>
          </a:prstGeom>
          <a:solidFill>
            <a:srgbClr val="0A3A44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474720"/>
            <a:ext cx="3657600" cy="3657600"/>
          </a:xfrm>
          <a:prstGeom prst="ellipse">
            <a:avLst/>
          </a:prstGeom>
          <a:solidFill>
            <a:srgbClr val="0A6E7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68680"/>
            <a:ext cx="1097280" cy="1097280"/>
          </a:xfrm>
          <a:prstGeom prst="ellipse">
            <a:avLst/>
          </a:prstGeom>
          <a:solidFill>
            <a:srgbClr val="F0A20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53" y="1153973"/>
            <a:ext cx="526694" cy="5266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40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4FB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Propongámoslo juntos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" y="269748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programa que devuelve visión a los vecinos</a:t>
            </a:r>
            <a:endParaRPr lang="en-US" sz="33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prestigio a la gestión municipal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822960" y="44348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Llevamos el paquete completo: 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FE3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técnica jurídica · modelo de convenio · proyecto de ordenanza · esta presentación.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2578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inicio: programa piloto de 6 meses, cupo acotado y evaluación por métricas de impacto.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Municipal de Salud Visual y Prevención de Ceguera Evitable · Provincia de Córdoba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2026-07-22T16:13:10Z</dcterms:created>
  <dcterms:modified xsi:type="dcterms:W3CDTF">2026-07-22T16:13:10Z</dcterms:modified>
</cp:coreProperties>
</file>