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la clínica y el marco: alianza institucional para que el gremio recomiende a Lazarte como clínica visual de cabecera de sus afiliados. Reemplazar [SINDICATO DESTINATARIO].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Credibilidad. El volumen quirúrgico y los convenios APROSS/PAMI son la base para garantizar turnos prioritarios a un flujo de afiliados.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Enmarcar el dolor: mucha patología prevenible, sin control preventivo cubierto y con demoras. Fuentes en el documento madre, Anexo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central. Todo lo demás desarrolla esta única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8 gremios objetivo de Córdoba entran por el Camino 1 (APROSS/PAMI). El Camino 2 es el complemento y el marco replicable a nivel nacional. El diferencial real para el gremio son los beneficios sin cargo (control anual + anteojos); la clínica los sostiene porque su foco de negocio es la cirugía.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45+ es el gancho preventivo, transversal a ambos caminos. Diferencia a Lazarte de una simple lista de prestadores.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circuito hace tangible la promesa: prioridad real y reporte para que el gremio muestre resultados. Confidencialidad de datos de salud garantizada.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valor para el gremio: reputación, servicio, costo cero, prevención, simplicidad y cobertura de por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Desactivar la objeción regulatoria. Un acuerdo de mera recomendación sin flujo de fondos de la OS no es un convenio prestacional.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replicable. La clasificación asume convenios vigentes APROSS y PAMI; confirmar con la clínica el listado completo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Bajar a la acción: proponer la reunión. El resto es rápido y sin costo para el gremio.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llamado a la acción y datos de contacto (a completar).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7466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0C2C3F"/>
          </a:solidFill>
          <a:ln/>
        </p:spPr>
      </p:sp>
      <p:pic>
        <p:nvPicPr>
          <p:cNvPr id="4" name="Image 0" descr="/home/user/ara-health/docs/comercial/lazarte-sindicatos/assets/logo-lazar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685800"/>
            <a:ext cx="329184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320040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ALIANZA INSTITUCIONAL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041648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Ojos Lazarte, clínica visual de cabecera para sus afiliados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5262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Salud Visual Sindical 45+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41648" y="525780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17466A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41648" y="52578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  </a:t>
            </a:r>
            <a:pPr algn="ctr" indent="0" marL="0">
              <a:buNone/>
            </a:pPr>
            <a:r>
              <a:rPr lang="en-US" sz="1300" b="1" dirty="0">
                <a:solidFill>
                  <a:srgbClr val="F0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[SINDICATO DESTINATARIO]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Córdoba Capital · [Mes/Año]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clínica con trayectoria y volumen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53896" y="2194560"/>
            <a:ext cx="768096" cy="768096"/>
          </a:xfrm>
          <a:prstGeom prst="ellipse">
            <a:avLst/>
          </a:prstGeom>
          <a:solidFill>
            <a:srgbClr val="14556B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7" name="Image 1" descr="/home/user/ara-health/docs/comercial/lazarte-sindicatos/assets/icons/hospit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01" y="2394265"/>
            <a:ext cx="368686" cy="3686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30175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0233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trayectoria en Córdoba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64992" y="192024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70248" y="2194560"/>
            <a:ext cx="768096" cy="768096"/>
          </a:xfrm>
          <a:prstGeom prst="ellipse">
            <a:avLst/>
          </a:prstGeom>
          <a:solidFill>
            <a:srgbClr val="14556B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3" name="Image 2" descr="/home/user/ara-health/docs/comercial/lazarte-sindicatos/assets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953" y="2394265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56432" y="30175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+15.000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3456432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547872" y="40233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cataratas realizadas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81344" y="192024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86600" y="2194560"/>
            <a:ext cx="768096" cy="768096"/>
          </a:xfrm>
          <a:prstGeom prst="ellipse">
            <a:avLst/>
          </a:prstGeom>
          <a:solidFill>
            <a:srgbClr val="14556B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9" name="Image 3" descr="/home/user/ara-health/docs/comercial/lazarte-sindicatos/assets/icons/calenda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305" y="2394265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72784" y="30175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3400" dirty="0"/>
          </a:p>
        </p:txBody>
      </p:sp>
      <p:sp>
        <p:nvSpPr>
          <p:cNvPr id="21" name="Text 15"/>
          <p:cNvSpPr txBox="1"/>
          <p:nvPr/>
        </p:nvSpPr>
        <p:spPr>
          <a:xfrm>
            <a:off x="6272784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364224" y="40233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quirúrgico sostenido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997696" y="1920240"/>
            <a:ext cx="2578608" cy="2834640"/>
          </a:xfrm>
          <a:prstGeom prst="roundRect">
            <a:avLst>
              <a:gd name="adj" fmla="val 4255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902952" y="2194560"/>
            <a:ext cx="768096" cy="768096"/>
          </a:xfrm>
          <a:prstGeom prst="ellipse">
            <a:avLst/>
          </a:prstGeom>
          <a:solidFill>
            <a:srgbClr val="14556B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25" name="Image 4" descr="/home/user/ara-health/docs/comercial/lazarte-sindicatos/assets/icons/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2657" y="2394265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89136" y="30175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APROSS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PAMI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9089136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180576" y="40233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vigentes con las coberturas de mayor edad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en cirugía de cataratas y estudios de alta complejidad (biometría, OCT, campo visual, ecografía) en el mismo centro.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visual de sus afiliados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AF1F4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29,8%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1984248"/>
            <a:ext cx="30175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Cataratas: 1ª causa de ceguera en +50 en Argentina (RAAB 2013).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8745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AF1F4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196596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millón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1984248"/>
            <a:ext cx="30175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glaucoma; ~50% no sabe que lo tiene (CAO).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AF1F4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338328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23,4%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3401568"/>
            <a:ext cx="30175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diabéticos evaluados con retinopatía en campañas (2018).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32918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EAF1F4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338328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401568"/>
            <a:ext cx="30175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ceguera en Argentina es evitable (OPS/OMS, 2014).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BF2E3"/>
          </a:solidFill>
          <a:ln w="19050">
            <a:solidFill>
              <a:srgbClr val="B9791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5138928"/>
            <a:ext cx="658368" cy="658368"/>
          </a:xfrm>
          <a:prstGeom prst="ellipse">
            <a:avLst/>
          </a:prstGeom>
          <a:solidFill>
            <a:srgbClr val="B9791F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9" name="Image 1" descr="/home/user/ara-health/docs/comercial/lazarte-sindicatos/assets/icons/clo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5310104"/>
            <a:ext cx="316017" cy="31601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691640" y="498348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hoy no hay solución: </a:t>
            </a:r>
            <a:pPr indent="0" marL="0"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programa de control visual preventivo de rutina cubierto por ninguna obra social sindical, y los afiliados de mayor edad sufren demoras y racionamiento de cupos.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C2C3F"/>
          </a:solidFill>
          <a:ln/>
        </p:spPr>
      </p:sp>
      <p:sp>
        <p:nvSpPr>
          <p:cNvPr id="3" name="Shape 1"/>
          <p:cNvSpPr/>
          <p:nvPr/>
        </p:nvSpPr>
        <p:spPr>
          <a:xfrm>
            <a:off x="5724144" y="1234440"/>
            <a:ext cx="822960" cy="82296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4" name="Image 0" descr="/home/user/ara-health/docs/comercial/lazarte-sindicatos/assets/icons/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8114" y="14484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propuesta, en una idea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788920"/>
            <a:ext cx="9235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su gremio recomiende a Centro de Ojos Lazarte como clínica visual de cabecera de sus afiliados, con control preventivo desde los 45 años y la cirugía de cataratas financiada en cuotas.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70916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el gremio · Con la cobertura que cada afiliado ya tiene · Sin trámite regulatorio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según la cobertura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737360"/>
            <a:ext cx="5349240" cy="3977640"/>
          </a:xfrm>
          <a:prstGeom prst="roundRect">
            <a:avLst>
              <a:gd name="adj" fmla="val 2759"/>
            </a:avLst>
          </a:prstGeom>
          <a:ln w="19050">
            <a:solidFill>
              <a:srgbClr val="1455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3736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14556B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286000"/>
            <a:ext cx="5349240" cy="502920"/>
          </a:xfrm>
          <a:prstGeom prst="rect">
            <a:avLst/>
          </a:prstGeom>
          <a:solidFill>
            <a:srgbClr val="14556B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566928" cy="566928"/>
          </a:xfrm>
          <a:prstGeom prst="ellipse">
            <a:avLst/>
          </a:prstGeom>
          <a:solidFill>
            <a:srgbClr val="11405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0" name="Image 1" descr="/home/user/ara-health/docs/comercial/lazarte-sindicatos/assets/icons/lin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122505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8836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1 — Derivación preferencial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3042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con PAMI o APROSS (convenio ya vigente)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06324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gremio recomienda oficialmente a la clínica. Sin costo.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turnos prioritario, sin demoras ni racionamiento.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afiliado usa su cobertura de siempre, sin gasto adicional.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reputacional y de servicio para el sindicato.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37360"/>
            <a:ext cx="5349240" cy="3977640"/>
          </a:xfrm>
          <a:prstGeom prst="roundRect">
            <a:avLst>
              <a:gd name="adj" fmla="val 2759"/>
            </a:avLst>
          </a:prstGeom>
          <a:ln w="19050">
            <a:solidFill>
              <a:srgbClr val="3C7C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73736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3C7C70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2286000"/>
            <a:ext cx="5349240" cy="502920"/>
          </a:xfrm>
          <a:prstGeom prst="rect">
            <a:avLst/>
          </a:prstGeom>
          <a:solidFill>
            <a:srgbClr val="3C7C70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0" y="1975104"/>
            <a:ext cx="566928" cy="566928"/>
          </a:xfrm>
          <a:prstGeom prst="ellipse">
            <a:avLst/>
          </a:prstGeom>
          <a:solidFill>
            <a:srgbClr val="11405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9" name="Image 2" descr="/home/user/ara-health/docs/comercial/lazarte-sindicatos/assets/icons/ta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81" y="2122505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69480" y="18836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2 — Tarifa corporativa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23042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con otra cobertura o prácticas particulares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75120" y="306324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financiada: hasta 12 cuotas o débito en recibo de sueldo.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preferencial en consulta, control y cirugía particular.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trámite de convenio con la obra social.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 también a familiares directos del afiliado.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5943600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ECF4F1"/>
          </a:solidFill>
          <a:ln w="12700">
            <a:solidFill>
              <a:srgbClr val="3C7C7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5943600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para toda la nómina, en ambos caminos:  </a:t>
            </a:r>
            <a:pPr indent="0" marL="0">
              <a:buNone/>
            </a:pPr>
            <a:r>
              <a:rPr lang="en-US" sz="14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visual anual y gestión de anteojos SIN CARGO.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CONDUCTOR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Salud Visual Sindical 45+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los 45 años aparecen presbicia, glaucoma temprano y lesiones de retina. Abrimos el control preventivo como puerta de entrada del afiliado, antes de que la patología avance. Aplica a los dos caminos.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6464" y="2761488"/>
            <a:ext cx="822960" cy="822960"/>
          </a:xfrm>
          <a:prstGeom prst="ellipse">
            <a:avLst/>
          </a:prstGeom>
          <a:solidFill>
            <a:srgbClr val="3C7C70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8" name="Image 1" descr="/home/user/ara-health/docs/comercial/lazarte-sindicatos/assets/icons/ey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4" y="2975458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74904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Agudeza visual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evaluación de presbicia / graduación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64992" y="246888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42816" y="2761488"/>
            <a:ext cx="822960" cy="822960"/>
          </a:xfrm>
          <a:prstGeom prst="ellipse">
            <a:avLst/>
          </a:prstGeom>
          <a:solidFill>
            <a:srgbClr val="3C7C70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3" name="Image 2" descr="/home/user/ara-health/docs/comercial/lazarte-sindicatos/assets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86" y="2975458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02152" y="374904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ocular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47872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tamizaje de glaucoma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246888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059168" y="2761488"/>
            <a:ext cx="822960" cy="822960"/>
          </a:xfrm>
          <a:prstGeom prst="ellipse">
            <a:avLst/>
          </a:prstGeom>
          <a:solidFill>
            <a:srgbClr val="3C7C70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8" name="Image 3" descr="/home/user/ara-health/docs/comercial/lazarte-sindicatos/assets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138" y="2975458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18504" y="374904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ojo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364224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tamizaje de retina, retinopatía y DMAE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997696" y="246888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75520" y="2761488"/>
            <a:ext cx="822960" cy="822960"/>
          </a:xfrm>
          <a:prstGeom prst="ellipse">
            <a:avLst/>
          </a:prstGeom>
          <a:solidFill>
            <a:srgbClr val="3C7C70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23" name="Image 4" descr="/home/user/ara-health/docs/comercial/lazarte-sindicatos/assets/icons/hospital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9490" y="2975458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34856" y="374904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interna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180576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estudios de alta complejidad y cirugía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tiempo un glaucoma o una retinopatía cambia el pronóstico y evita ceguera evitable.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OPERATIVO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circuito simple y prioritario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marco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sin costo entre el gremio y la clínica.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61104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224028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17136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221224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directo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553712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Línea/WhatsApp y correo exclusivos, con cupos reservados.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73568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0" y="224028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0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933688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Acreditación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66176" y="2834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afiliado se identifica con su credencial gremial.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4672" y="420624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prioritario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841248" y="4800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estudios en plazos acotados.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61104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17136" y="420624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17136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221224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integral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4553712" y="4800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estudios y cirugía en un mismo centro.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973568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29600" y="4206240"/>
            <a:ext cx="566928" cy="566928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933688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al gremio</a:t>
            </a:r>
            <a:endParaRPr lang="en-US" sz="1550" dirty="0"/>
          </a:p>
        </p:txBody>
      </p:sp>
      <p:sp>
        <p:nvSpPr>
          <p:cNvPr id="34" name="Text 31"/>
          <p:cNvSpPr txBox="1"/>
          <p:nvPr/>
        </p:nvSpPr>
        <p:spPr>
          <a:xfrm>
            <a:off x="8266176" y="4800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periódico agregado de afiliados atendidos.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su sindicato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25856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7" name="Image 1" descr="/home/user/ara-health/docs/comercial/lazarte-sindicatos/assets/icons/st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42498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2768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gremial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41248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beneficio tangible y sensible que el afiliado agradece.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61104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35424" y="225856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2" name="Image 2" descr="/home/user/ara-health/docs/comercial/lazarte-sindicatos/assets/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242498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12664" y="22768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al afiliado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53712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ágil, sin demoras ni racionamiento de cupos.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973568" y="19659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47888" y="225856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7" name="Image 3" descr="/home/user/ara-health/docs/comercial/lazarte-sindicatos/assets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242498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25128" y="22768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sin cargo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266176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anual y gestión de anteojos para toda la nómina, sin costo para el gremio.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422452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22" name="Image 4" descr="/home/user/ara-health/docs/comercial/lazarte-sindicatos/assets/icons/shiel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4390949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424281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41248" y="4892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45+ que evita ceguera evitable.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261104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35424" y="422452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27" name="Image 5" descr="/home/user/ara-health/docs/comercial/lazarte-sindicatos/assets/icons/doc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1845" y="4390949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12664" y="424281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53712" y="4892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trámite regulatorio ni convenio nuevo de obra social.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7973568" y="39319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47888" y="4224528"/>
            <a:ext cx="640080" cy="640080"/>
          </a:xfrm>
          <a:prstGeom prst="ellipse">
            <a:avLst/>
          </a:prstGeom>
          <a:solidFill>
            <a:srgbClr val="2E7D9A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32" name="Image 6" descr="/home/user/ara-health/docs/comercial/lazarte-sindicatos/assets/icons/users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4309" y="4390949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25128" y="424281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por vida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266176" y="4892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 al afiliado en actividad y, al jubilarse, por PAMI.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legal: sin trámite ante la SSSalud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B9791F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7" name="Image 1" descr="/home/user/ara-health/docs/comercial/lazarte-sindicatos/assets/icons/doc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1488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prestacional Obra Social ↔ Prestador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1089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obra social contrata al prestador y le paga. Hay flujo de fondos de la OS a la clínica.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4343400"/>
            <a:ext cx="4617720" cy="548640"/>
          </a:xfrm>
          <a:prstGeom prst="roundRect">
            <a:avLst>
              <a:gd name="adj" fmla="val 50000"/>
            </a:avLst>
          </a:prstGeom>
          <a:solidFill>
            <a:srgbClr val="FBF2E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14400" y="4343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requiere registro (Res. SSSalud 194/2001)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18288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148840"/>
            <a:ext cx="685800" cy="685800"/>
          </a:xfrm>
          <a:prstGeom prst="ellipse">
            <a:avLst/>
          </a:prstGeom>
          <a:solidFill>
            <a:srgbClr val="3C7C70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pic>
        <p:nvPicPr>
          <p:cNvPr id="14" name="Image 2" descr="/home/user/ara-health/docs/comercial/lazarte-sindicatos/assets/icons/lin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3271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98080" y="21488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recomendación Sindicato ↔ Clínica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675120" y="31089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gremio solo recomienda. Sin pago de la OS: se factura por los convenios ya vigentes (PAMI/APROSS).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675120" y="4343400"/>
            <a:ext cx="4617720" cy="548640"/>
          </a:xfrm>
          <a:prstGeom prst="roundRect">
            <a:avLst>
              <a:gd name="adj" fmla="val 50000"/>
            </a:avLst>
          </a:prstGeom>
          <a:solidFill>
            <a:srgbClr val="E6F1E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675120" y="4343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registro — acuerdo privado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 es siempre del segundo tipo. Amparada en la Ley 23.551 de Asociaciones Sindicales (servicios sociales del gremio).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APUNTAMOS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objetivo en Córdoba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gremios cuyos afiliados se cubren por APROSS o PAMI: con ambas ya tenemos convenio. Todos entran por el Camino 1.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3291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Sindicato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5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5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5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UEPC — docentes provinciales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 · PAMI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— empleados públicos provinciales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AGEPJ — Judiciales de Córdoba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 Pública Provincial (UTS/UPS)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 Córdoba — estatales provinciales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UPCN Córdoba — estatales provinciales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SUOEM — municipales de Córdoba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APROSS / a confirmar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 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Federación de Jubilados y Pensionados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(*) Confirmar la sigla del gremio de salud pública provincial y la cobertura de SUOEM (municipales). Si tienen obra social propia sin convenio, aplica el Camino 2.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ra-health/docs/comercial/lazarte-sindicatos/assets/logo-laz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310896"/>
            <a:ext cx="1417320" cy="7086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avanzamos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65960"/>
            <a:ext cx="9875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presentación con la Secretaría Gremial y Servicios Sociales.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807208"/>
            <a:ext cx="9875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camino aplicable y, si corresponde, aranceles corporativos.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648456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767328"/>
            <a:ext cx="457200" cy="457200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648456"/>
            <a:ext cx="9875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acuerdo marco de derivación preferencial (sin costo).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489704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4608576"/>
            <a:ext cx="457200" cy="457200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489704"/>
            <a:ext cx="9875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del canal prioritario y del programa 45+.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330952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3F7F9"/>
          </a:solidFill>
          <a:ln/>
          <a:effectLst>
            <a:outerShdw sx="100000" sy="100000" kx="0" ky="0" algn="bl" rotWithShape="0" blurRad="76200" dist="25400" dir="5400000">
              <a:srgbClr val="9AB0BB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14556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330952"/>
            <a:ext cx="9875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al padrón y primer reporte de resultados.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926080"/>
            <a:ext cx="5943600" cy="5943600"/>
          </a:xfrm>
          <a:prstGeom prst="ellipse">
            <a:avLst/>
          </a:prstGeom>
          <a:solidFill>
            <a:srgbClr val="0C2C3F"/>
          </a:solidFill>
          <a:ln/>
        </p:spPr>
      </p:sp>
      <p:pic>
        <p:nvPicPr>
          <p:cNvPr id="3" name="Image 0" descr="/home/user/ara-health/docs/comercial/lazarte-sindicatos/assets/logo-lazar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1051560"/>
            <a:ext cx="292608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Démosle a sus afiliados la mejor visión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Coordinemos una reunión de presentación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80360" y="457200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17466A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880360" y="45720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comercial: [Nombre y cargo]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Tel/WhatsApp: [Completar]   ·   Email: [Completar]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[Dirección], Córdoba Capital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2026-09-15T15:54:42Z</dcterms:created>
  <dcterms:modified xsi:type="dcterms:W3CDTF">2026-09-15T15:54:42Z</dcterms:modified>
</cp:coreProperties>
</file>